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37" r:id="rId2"/>
    <p:sldMasterId id="2147485129" r:id="rId3"/>
  </p:sldMasterIdLst>
  <p:notesMasterIdLst>
    <p:notesMasterId r:id="rId19"/>
  </p:notesMasterIdLst>
  <p:handoutMasterIdLst>
    <p:handoutMasterId r:id="rId20"/>
  </p:handoutMasterIdLst>
  <p:sldIdLst>
    <p:sldId id="620" r:id="rId4"/>
    <p:sldId id="484" r:id="rId5"/>
    <p:sldId id="467" r:id="rId6"/>
    <p:sldId id="651" r:id="rId7"/>
    <p:sldId id="633" r:id="rId8"/>
    <p:sldId id="634" r:id="rId9"/>
    <p:sldId id="637" r:id="rId10"/>
    <p:sldId id="639" r:id="rId11"/>
    <p:sldId id="641" r:id="rId12"/>
    <p:sldId id="648" r:id="rId13"/>
    <p:sldId id="649" r:id="rId14"/>
    <p:sldId id="643" r:id="rId15"/>
    <p:sldId id="644" r:id="rId16"/>
    <p:sldId id="647" r:id="rId17"/>
    <p:sldId id="646" r:id="rId18"/>
  </p:sldIdLst>
  <p:sldSz cx="12192000" cy="6858000"/>
  <p:notesSz cx="9309100" cy="7023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2">
          <p15:clr>
            <a:srgbClr val="A4A3A4"/>
          </p15:clr>
        </p15:guide>
        <p15:guide id="2" pos="293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sharaf baig" initials="mb" lastIdx="1" clrIdx="0">
    <p:extLst>
      <p:ext uri="{19B8F6BF-5375-455C-9EA6-DF929625EA0E}">
        <p15:presenceInfo xmlns:p15="http://schemas.microsoft.com/office/powerpoint/2012/main" userId="b54cf1fe59efbf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C06"/>
    <a:srgbClr val="1192A3"/>
    <a:srgbClr val="0000FF"/>
    <a:srgbClr val="CC3300"/>
    <a:srgbClr val="D0E6C0"/>
    <a:srgbClr val="89BF61"/>
    <a:srgbClr val="FFFF99"/>
    <a:srgbClr val="FFFF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8" autoAdjust="0"/>
    <p:restoredTop sz="98043" autoAdjust="0"/>
  </p:normalViewPr>
  <p:slideViewPr>
    <p:cSldViewPr snapToGrid="0">
      <p:cViewPr varScale="1">
        <p:scale>
          <a:sx n="81" d="100"/>
          <a:sy n="81" d="100"/>
        </p:scale>
        <p:origin x="79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5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6018"/>
    </p:cViewPr>
  </p:sorterViewPr>
  <p:notesViewPr>
    <p:cSldViewPr snapToGrid="0">
      <p:cViewPr varScale="1">
        <p:scale>
          <a:sx n="56" d="100"/>
          <a:sy n="56" d="100"/>
        </p:scale>
        <p:origin x="-2544" y="-84"/>
      </p:cViewPr>
      <p:guideLst>
        <p:guide orient="horz" pos="2212"/>
        <p:guide pos="29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73675" y="0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924F77F-870C-4B41-AA66-B251E8863E2C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70675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73675" y="6670675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0ABFC30-4F41-42FC-9CD3-204E2C09C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0937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3675" y="0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19A94E-AFC1-418A-AF78-EC5EE2C0E2F8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7938" y="877888"/>
            <a:ext cx="4213225" cy="2370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79788"/>
            <a:ext cx="7448550" cy="276542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70675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3675" y="6670675"/>
            <a:ext cx="4033838" cy="35242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2C65E01-E2C3-4109-9644-824BFDE41C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0345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E19A94E-AFC1-418A-AF78-EC5EE2C0E2F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C65E01-E2C3-4109-9644-824BFDE41C9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553200"/>
            <a:ext cx="12188825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3175" y="64865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15C6E-0830-4246-BB9D-CCF560835A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Image result for sona college of technology salem logo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Calibri" pitchFamily="34" charset="0"/>
              <a:cs typeface="Arial" pitchFamily="34" charset="0"/>
            </a:endParaRPr>
          </a:p>
        </p:txBody>
      </p:sp>
      <p:sp>
        <p:nvSpPr>
          <p:cNvPr id="5" name="AutoShape 4" descr="Image result for sona college of technology salem logo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Calibri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5776" y="0"/>
            <a:ext cx="10058400" cy="1420368"/>
          </a:xfrm>
        </p:spPr>
        <p:txBody>
          <a:bodyPr/>
          <a:lstStyle>
            <a:lvl1pPr marL="0">
              <a:defRPr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3AC68B-764E-4880-9AD6-AB267182A7B4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828C54-4703-4ECF-B3B5-937EAFBE7B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0A7F7-3F18-4705-A7A7-83EEDA8A6394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D5CE1-7DF7-4326-B182-911299A61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415713" y="0"/>
            <a:ext cx="776287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580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7D3E2-DF97-417D-8BF9-C887C05FE7DF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BE3BC-B729-4060-A864-55AF32C2B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1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DDD0E-8762-4B22-AFCD-2DE88C11C03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C1D26-3161-4655-9878-DC02DC1031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15529-A825-4F76-9E31-1484AE59F826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4DAFA-7703-4A05-B81C-3262AF05C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EED49-4CC7-4E00-B1A1-E87F4EB851E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008D2-BCD7-4DFC-B8AE-79FBD8741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B00C2FE-1232-4A3D-81FB-24B8567EDFBD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E9DBD1-0DA6-4E0C-8D99-1EE7AA207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0881A-55CF-49B7-88BA-0462C47252D9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44E83-0914-444A-999E-633FFC0BE9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70A9F-9F72-4D79-A031-1045D5D5D62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36F09-4E4F-45CE-BD76-1E255387B6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4A876-0516-4494-B0CB-CB8CC769FA17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2F6F6-6160-4369-99C1-24F7A4A7E7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553200"/>
            <a:ext cx="12188825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3175" y="64865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8210C-E69D-41D3-8973-A3C99F8EA6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Image result for sona college of technology salem logo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Calibri" pitchFamily="34" charset="0"/>
              <a:cs typeface="Arial" pitchFamily="34" charset="0"/>
            </a:endParaRPr>
          </a:p>
        </p:txBody>
      </p:sp>
      <p:sp>
        <p:nvSpPr>
          <p:cNvPr id="5" name="AutoShape 4" descr="Image result for sona college of technology salem logo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Calibri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5776" y="0"/>
            <a:ext cx="10058400" cy="1420368"/>
          </a:xfrm>
        </p:spPr>
        <p:txBody>
          <a:bodyPr/>
          <a:lstStyle>
            <a:lvl1pPr marL="0">
              <a:defRPr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EF7F0-8703-4725-9870-470A16069379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1A5F0-DFB0-42F5-9034-A593CD86A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BC343-BC3A-41D9-AD4D-A98A4CE574B2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FC89F-7DCA-4FB2-B6C5-5342FB3132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415713" y="0"/>
            <a:ext cx="776287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580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6F06-34E9-41D2-B1F8-A2EACA53BA04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0517A-8CC9-4F06-9C48-688B3D2A7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1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5335E-CB1A-46E1-B599-1C98EE9402EB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9F5CEB-D8EA-4532-A225-4761174DFF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9DA80-D90E-4C0C-A194-96C1A818097D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DEE11-9F6D-4E5D-B790-4BEF413B7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354B-A24F-4959-802B-31A41D28712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2EED3-B864-4B8F-980E-92AA632F3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354B-A24F-4959-802B-31A41D28712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2EED3-B864-4B8F-980E-92AA632F3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699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354B-A24F-4959-802B-31A41D28712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2EED3-B864-4B8F-980E-92AA632F3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69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A226EF7-E30E-4E9B-83DC-AFDB3A4CD4A7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DD472FD-1888-4859-8F31-085EDE8C72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54C04-C338-4C55-A9AE-8A0E2F7B146B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7EF064-A1D0-468E-9EFC-A16650162F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D91D3-99AB-48A6-8CBE-8C681C41C83D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082C4-9B9B-4891-9B72-A20463224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5015C-7C38-46FA-B45D-5F30A4307F18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C5091-98B5-4448-ADE2-6380665712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055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9901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890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8130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616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847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1054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7092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60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5941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26-05-2025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3022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userDrawn="1">
  <p:cSld name="Subtitle">
    <p:bg>
      <p:bgPr>
        <a:solidFill>
          <a:srgbClr val="16243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 flipH="1">
            <a:off x="100" y="0"/>
            <a:ext cx="298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Shape 16"/>
          <p:cNvSpPr/>
          <p:nvPr/>
        </p:nvSpPr>
        <p:spPr>
          <a:xfrm flipH="1">
            <a:off x="2680492" y="0"/>
            <a:ext cx="305600" cy="68580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143700" y="2608600"/>
            <a:ext cx="2698800" cy="1640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Font typeface="Raleway"/>
              <a:buNone/>
              <a:defRPr b="1">
                <a:solidFill>
                  <a:srgbClr val="F6703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None/>
              <a:defRPr>
                <a:solidFill>
                  <a:srgbClr val="F67031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3309833" y="698700"/>
            <a:ext cx="8623200" cy="4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AutoNum type="arabicPeriod"/>
              <a:defRPr sz="2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19170" lvl="1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alphaL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828754" lvl="2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romanL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438339" lvl="3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arabi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3047924" lvl="4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alphaL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657509" lvl="5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romanL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267093" lvl="6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arabi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876678" lvl="7" indent="-423323" rtl="0"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AutoNum type="alphaL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5486263" lvl="8" indent="-423323" rtl="0">
              <a:spcBef>
                <a:spcPts val="1333"/>
              </a:spcBef>
              <a:spcAft>
                <a:spcPts val="1333"/>
              </a:spcAft>
              <a:buClr>
                <a:schemeClr val="lt1"/>
              </a:buClr>
              <a:buSzPts val="1400"/>
              <a:buFont typeface="Lato"/>
              <a:buAutoNum type="romanLcPeriod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029" y="5395570"/>
            <a:ext cx="1205902" cy="136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322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Title + 1 column">
    <p:bg>
      <p:bgPr>
        <a:solidFill>
          <a:srgbClr val="162433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 flipH="1">
            <a:off x="3296500" y="0"/>
            <a:ext cx="150800" cy="68580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2986100" y="0"/>
            <a:ext cx="920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endParaRPr sz="240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4120833" y="767333"/>
            <a:ext cx="7461600" cy="530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800"/>
              </a:spcBef>
              <a:spcAft>
                <a:spcPts val="0"/>
              </a:spcAft>
              <a:buSzPts val="1400"/>
              <a:buFont typeface="Raleway SemiBold"/>
              <a:buChar char="▪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-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1" name="Shape 41"/>
          <p:cNvSpPr/>
          <p:nvPr/>
        </p:nvSpPr>
        <p:spPr>
          <a:xfrm>
            <a:off x="2986092" y="-7667"/>
            <a:ext cx="305600" cy="68580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62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4865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1604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6963" y="1612900"/>
            <a:ext cx="100584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D3AC68B-764E-4880-9AD6-AB267182A7B4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B828C54-4703-4ECF-B3B5-937EAFBE7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800" y="14462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08" r:id="rId1"/>
    <p:sldLayoutId id="2147485109" r:id="rId2"/>
    <p:sldLayoutId id="2147485110" r:id="rId3"/>
    <p:sldLayoutId id="2147485111" r:id="rId4"/>
    <p:sldLayoutId id="2147485112" r:id="rId5"/>
    <p:sldLayoutId id="2147485113" r:id="rId6"/>
    <p:sldLayoutId id="2147485114" r:id="rId7"/>
    <p:sldLayoutId id="2147485115" r:id="rId8"/>
    <p:sldLayoutId id="2147485116" r:id="rId9"/>
    <p:sldLayoutId id="2147485117" r:id="rId10"/>
    <p:sldLayoutId id="2147485118" r:id="rId11"/>
  </p:sldLayoutIdLst>
  <p:hf hd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4865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1604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6963" y="1612900"/>
            <a:ext cx="100584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A42FFF-63BA-41FD-B8E7-D26E2A6423EF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2722C6-C092-40E2-88DE-031591D392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800" y="14462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2" descr="Sri Jagadguru Chandrashekaranatha Swamiji Institute of Technology - [SJCIT],  Chickballapur - Admissions, Contact, Website, Facilities 2021-2022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86" y="1"/>
            <a:ext cx="979713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195763" y="649287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9" r:id="rId1"/>
    <p:sldLayoutId id="2147485120" r:id="rId2"/>
    <p:sldLayoutId id="2147485121" r:id="rId3"/>
    <p:sldLayoutId id="2147485122" r:id="rId4"/>
    <p:sldLayoutId id="2147485105" r:id="rId5"/>
    <p:sldLayoutId id="2147485106" r:id="rId6"/>
    <p:sldLayoutId id="2147485123" r:id="rId7"/>
    <p:sldLayoutId id="2147485127" r:id="rId8"/>
    <p:sldLayoutId id="2147485128" r:id="rId9"/>
    <p:sldLayoutId id="2147485124" r:id="rId10"/>
    <p:sldLayoutId id="2147485125" r:id="rId11"/>
    <p:sldLayoutId id="2147485107" r:id="rId12"/>
    <p:sldLayoutId id="2147485126" r:id="rId13"/>
  </p:sldLayoutIdLst>
  <p:hf hd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tabLst>
          <a:tab pos="3086100" algn="l"/>
        </a:tabLst>
        <a:defRPr sz="4800">
          <a:solidFill>
            <a:srgbClr val="404040"/>
          </a:solidFill>
          <a:latin typeface="Calibri Light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fld id="{D36DF225-620E-4DBE-B931-5348966F4A4F}" type="datetimeFigureOut">
              <a:rPr lang="en-IN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t>26-05-2025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endParaRPr lang="en-IN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fld id="{CF830192-96A8-4F98-8E8C-86F0EEF3B5C6}" type="slidenum">
              <a:rPr lang="en-IN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909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30" r:id="rId1"/>
    <p:sldLayoutId id="2147485131" r:id="rId2"/>
    <p:sldLayoutId id="2147485132" r:id="rId3"/>
    <p:sldLayoutId id="2147485133" r:id="rId4"/>
    <p:sldLayoutId id="2147485134" r:id="rId5"/>
    <p:sldLayoutId id="2147485135" r:id="rId6"/>
    <p:sldLayoutId id="2147485136" r:id="rId7"/>
    <p:sldLayoutId id="2147485137" r:id="rId8"/>
    <p:sldLayoutId id="2147485138" r:id="rId9"/>
    <p:sldLayoutId id="2147485139" r:id="rId10"/>
    <p:sldLayoutId id="2147485140" r:id="rId11"/>
    <p:sldLayoutId id="2147485141" r:id="rId12"/>
    <p:sldLayoutId id="214748514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eb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Borj,%20P.%20R.,%20Raja,%20K.,%20&amp;%20Bours,%20P.%20(2023).%20Online%20grooming%20detection:%20A" TargetMode="External"/><Relationship Id="rId2" Type="http://schemas.openxmlformats.org/officeDocument/2006/relationships/hyperlink" Target="https://doi.org/10.32628/IJSRST5231039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Dorasamy,%20M.,%20Kaliannan,%20M.,%20Jambulingam,%20M.,%20Ramadhan,%20I.,%20&amp;%20Sivaji,%20A." TargetMode="External"/><Relationship Id="rId4" Type="http://schemas.openxmlformats.org/officeDocument/2006/relationships/hyperlink" Target="mailto:Cardei,%20C.,%20&amp;%20Rebedea,%20T.%20(2017).%20Detecting%20sexual%20predators%20in%20chats%20us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osa.org/doc/main/" TargetMode="External"/><Relationship Id="rId2" Type="http://schemas.openxmlformats.org/officeDocument/2006/relationships/hyperlink" Target="https://docs.opencv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Generative%20AI%20CSAM%20is%20CSAM.%20National%20Center%20for%20Missing%20&amp;%20Exploited%20Children." TargetMode="External"/><Relationship Id="rId4" Type="http://schemas.openxmlformats.org/officeDocument/2006/relationships/hyperlink" Target="https://pytorch.org/docs/stable/index.htm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1" y="145667"/>
            <a:ext cx="1528016" cy="21600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365" y="145667"/>
            <a:ext cx="1498414" cy="21600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6" name="TextBox 5"/>
          <p:cNvSpPr txBox="1"/>
          <p:nvPr/>
        </p:nvSpPr>
        <p:spPr>
          <a:xfrm>
            <a:off x="2054138" y="317890"/>
            <a:ext cx="8008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IN" sz="2000" dirty="0">
                <a:solidFill>
                  <a:prstClr val="black"/>
                </a:solidFill>
                <a:latin typeface="Calibri"/>
                <a:cs typeface="+mn-cs"/>
              </a:rPr>
              <a:t>|| Jai Sri Gurudev ||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en-IN" sz="3600" b="1" dirty="0">
                <a:solidFill>
                  <a:srgbClr val="FF0000"/>
                </a:solidFill>
                <a:latin typeface="Calibri"/>
                <a:cs typeface="+mn-cs"/>
              </a:rPr>
              <a:t>SJC INSTITUTE OF TECHNOLOGY</a:t>
            </a:r>
          </a:p>
          <a:p>
            <a:pPr algn="ctr"/>
            <a:r>
              <a:rPr lang="en-US" altLang="en-US" sz="1600" b="1" dirty="0">
                <a:solidFill>
                  <a:srgbClr val="0070C0"/>
                </a:solidFill>
              </a:rPr>
              <a:t>DEPARTMENT OF ELECTRONICS AND COMMUNICATION ENGNEERING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9724" y="5426358"/>
            <a:ext cx="4754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endParaRPr lang="en-IN" sz="3600" b="1" dirty="0">
              <a:solidFill>
                <a:srgbClr val="000099"/>
              </a:solidFill>
              <a:latin typeface="Calibri"/>
              <a:cs typeface="+mn-cs"/>
            </a:endParaRP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3165964" y="1631877"/>
            <a:ext cx="53479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7030A0"/>
                </a:solidFill>
              </a:rPr>
              <a:t>8</a:t>
            </a:r>
            <a:r>
              <a:rPr lang="en-US" altLang="en-US" sz="2400" b="1" baseline="30000" dirty="0">
                <a:solidFill>
                  <a:srgbClr val="7030A0"/>
                </a:solidFill>
              </a:rPr>
              <a:t>th</a:t>
            </a:r>
            <a:r>
              <a:rPr lang="en-US" altLang="en-US" sz="2400" b="1" dirty="0">
                <a:solidFill>
                  <a:srgbClr val="7030A0"/>
                </a:solidFill>
              </a:rPr>
              <a:t> Sem Major-Project Final Review 2025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90625" y="2355348"/>
            <a:ext cx="10535911" cy="9548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“RECOGNITION OF ANTI-MOLESTATION SITUATION USING VOICE AND MACHINE LEARNING”</a:t>
            </a:r>
            <a:endParaRPr lang="en-US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574675" y="3359879"/>
            <a:ext cx="11272838" cy="3008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                       			        Project Guide                         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                                 USN:                                               ANIL KUMAR R </a:t>
            </a:r>
          </a:p>
          <a:p>
            <a:pPr marL="0" indent="0" algn="just" fontAlgn="auto"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MUSHARAF BAIG	         1SJ21EC085		                ASSISTANT PROFESSOR	</a:t>
            </a:r>
          </a:p>
          <a:p>
            <a:pPr marL="0" indent="0" algn="just" fontAlgn="auto"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M.BHARGAVA NAIDU            1SJ21EC075                                                 ECE DEPARTMENT</a:t>
            </a:r>
          </a:p>
          <a:p>
            <a:pPr marL="0" indent="0" algn="just" fontAlgn="auto"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 MANISHA                     1SJ21EC091</a:t>
            </a:r>
          </a:p>
          <a:p>
            <a:pPr marL="0" indent="0" algn="just" fontAlgn="auto"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PALLAVI C N                            1SJ21EC106 </a:t>
            </a:r>
          </a:p>
          <a:p>
            <a:pPr marL="0" indent="0" algn="just" fontAlgn="auto">
              <a:spcAft>
                <a:spcPts val="0"/>
              </a:spcAft>
              <a:buNone/>
            </a:pPr>
            <a:endParaRPr lang="en-US" altLang="en-US" sz="2000" dirty="0"/>
          </a:p>
          <a:p>
            <a:pPr marL="0" indent="0" algn="just" fontAlgn="auto"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27-05-2025         </a:t>
            </a:r>
          </a:p>
        </p:txBody>
      </p:sp>
    </p:spTree>
    <p:extLst>
      <p:ext uri="{BB962C8B-B14F-4D97-AF65-F5344CB8AC3E}">
        <p14:creationId xmlns:p14="http://schemas.microsoft.com/office/powerpoint/2010/main" val="415967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ChangeArrowheads="1"/>
          </p:cNvSpPr>
          <p:nvPr/>
        </p:nvSpPr>
        <p:spPr bwMode="auto">
          <a:xfrm>
            <a:off x="-917783" y="480173"/>
            <a:ext cx="6096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INDEX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097949" y="1126504"/>
            <a:ext cx="10114564" cy="4619873"/>
          </a:xfrm>
        </p:spPr>
        <p:txBody>
          <a:bodyPr numCol="2">
            <a:normAutofit/>
          </a:bodyPr>
          <a:lstStyle/>
          <a:p>
            <a:pPr eaLnBrk="1" hangingPunct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Objective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Literature Review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Block Diagram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Expected Result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Applications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</a:t>
            </a:r>
          </a:p>
        </p:txBody>
      </p:sp>
      <p:sp>
        <p:nvSpPr>
          <p:cNvPr id="6" name="Date Placeholder 5"/>
          <p:cNvSpPr txBox="1">
            <a:spLocks/>
          </p:cNvSpPr>
          <p:nvPr/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FFFFFF"/>
                </a:solidFill>
                <a:latin typeface="+mn-lt"/>
                <a:cs typeface="+mn-cs"/>
              </a:rPr>
              <a:t>27-05-2025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74AE9-354C-875B-D491-EFEDE4F219F4}"/>
              </a:ext>
            </a:extLst>
          </p:cNvPr>
          <p:cNvSpPr txBox="1"/>
          <p:nvPr/>
        </p:nvSpPr>
        <p:spPr>
          <a:xfrm>
            <a:off x="4848302" y="6563053"/>
            <a:ext cx="3774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SJC Institute of Technology, Chickballapur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5713" y="137787"/>
            <a:ext cx="10058400" cy="864296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Abstract</a:t>
            </a:r>
            <a:endParaRPr lang="en-IN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SJC Institute of Technology, Chickballapur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087" y="1576727"/>
            <a:ext cx="10865651" cy="479398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world, ensuring public safety is a growing concern, especially in cases of harassment and emergency situations. This project presents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surveillance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recognizing distress sounds, such as screams, and automatically triggering alerts for quick intervention. By integrating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real-time audio-video processing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enhances security monitoring in public and private spaces.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leverages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Librosa for audio analysis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 for deep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for CCTV integration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accurate detection of critical situations. Upon detecting a distress sound, the system instantly captures video evidence and sends alerts to concerned authorities, reducing response time and improving emergency handling.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Node.js-powered notification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records for further analysis and reporting.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is particularly useful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areas, schools, workplaces, hospitals, and smart city surveillance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rapid response to distress situations is crucial. The automated approach minimizes human effort in monitoring while increasing efficiency in threat detection.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bridging the gap between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technology and real-world safety measures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system contributes to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smarter, faster, and more reliable security framework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Future enhancements could include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detection accuracy, expanding language support for distress recognition, and integrating advanced video analytics for better threat assessment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0A59-A1A5-329B-2D76-5FFE186F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Problem-Statement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27E5-E3A3-E679-CE53-D5EFF632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Molestation and harassment cases continue to be a critical societal issue, affecting individuals in public and private spaces.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Traditional security measures, such as CCTV surveillance and emergency helplines, often fail to provide real-time intervention due to delayed reporting, lack of immediate response, and dependence on human monitoring.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Victims may not always be able to physically call for help, making it crucial to develop an automated, AI-driven system that can detect distress situations and trigger alerts without manual intervention.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D26CC-9456-9147-5394-479B7C47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590CE-B761-6357-6DCB-9C644F2F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EDDA7-3058-2F12-7034-14C334F6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7323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384306"/>
            <a:ext cx="10058400" cy="79851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sz="40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SJC Institute of Technology, Chickballapur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16025" y="1535120"/>
            <a:ext cx="9939338" cy="479398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system that recognizes distress sounds, such as screams, during         emergencies or harassment situations.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the voice recognition module with cameras for seamless and continuous monitoring.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recording of evidence and sending of alerts to the nearest police station.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 notifications to ensure authorities are alerted promptly for Swift intervention.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public safety by deterring harassment and fostering a secure  environment.</a:t>
            </a:r>
          </a:p>
        </p:txBody>
      </p:sp>
    </p:spTree>
    <p:extLst>
      <p:ext uri="{BB962C8B-B14F-4D97-AF65-F5344CB8AC3E}">
        <p14:creationId xmlns:p14="http://schemas.microsoft.com/office/powerpoint/2010/main" val="236000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384306"/>
            <a:ext cx="10058400" cy="79851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Literature Survey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66800" y="1494213"/>
            <a:ext cx="10058400" cy="471805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K Singh (2020) – Molestation Detection using Machine Learning: This paper proposes a machine learning-based approach for detecting molestation situations using text data .The authors use a combination of natural language processing (NLP) and machine learning techniques to classify text data as molestation or non-molestation . The proposed system achieves an accuracy of 92.5% on a dataset of 1,000 text samples.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A.K Jain (2019) – Image-based Molestation Detection using Deep Learning: This paper proposes a deep learning-based approach for detecting molestation situations using image data . The authors use a convolutional neural network (CNN) to classify images as molestation or non-molestation . The proposed system achieves an accuracy of 95.2% on a dataset of 5,000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R.K Singh (2018) – Sensor-based Molestation Detection using Machine Learning: This paper proposes a machine learning-based approach for detecting molestation situations using sensor. The authors use a combination of machine learning algorithms and sensor data to classify situations as molestation or non-molestation. The proposed system achieves an accuracy of 90.5% on a dataset of 1,500 sensor samples.</a:t>
            </a:r>
          </a:p>
        </p:txBody>
      </p:sp>
    </p:spTree>
    <p:extLst>
      <p:ext uri="{BB962C8B-B14F-4D97-AF65-F5344CB8AC3E}">
        <p14:creationId xmlns:p14="http://schemas.microsoft.com/office/powerpoint/2010/main" val="378304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384306"/>
            <a:ext cx="10058400" cy="798513"/>
          </a:xfrm>
        </p:spPr>
        <p:txBody>
          <a:bodyPr/>
          <a:lstStyle/>
          <a:p>
            <a:pPr eaLnBrk="1" hangingPunct="1"/>
            <a:r>
              <a:rPr lang="en-US" altLang="en-US" dirty="0"/>
              <a:t>Methodology</a:t>
            </a:r>
            <a:endParaRPr lang="en-US" altLang="en-US" sz="40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96963" y="1565462"/>
            <a:ext cx="10058400" cy="4793989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105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v"/>
            </a:pPr>
            <a:r>
              <a:rPr lang="en-IN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and Planning: </a:t>
            </a: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Conduct a study of voice recognition technologies. Identify key distress signals like screams for training the model.</a:t>
            </a:r>
            <a:endParaRPr lang="en-IN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5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v"/>
            </a:pPr>
            <a:r>
              <a:rPr lang="en-IN" sz="24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System Design: </a:t>
            </a: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the voice recognition module with cameras. Design a mechanism to trigger recording upon detecting distress.</a:t>
            </a:r>
            <a:endParaRPr lang="en-IN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v"/>
            </a:pPr>
            <a:r>
              <a:rPr lang="en-IN" sz="24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Collection and Model Training: </a:t>
            </a: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 audio samples of distress signals in various environments. Train machine learning algorithms to accurately detect such sounds.</a:t>
            </a:r>
            <a:endParaRPr lang="en-IN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v"/>
            </a:pPr>
            <a:r>
              <a:rPr lang="en-IN" sz="24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Alert Mechanism: </a:t>
            </a: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software to capture video and images upon trigger.</a:t>
            </a: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Configure an automated email system to send alerts with media evidence to the nearest police station.</a:t>
            </a:r>
            <a:endParaRPr lang="en-IN" sz="2400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360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384306"/>
            <a:ext cx="10058400" cy="798513"/>
          </a:xfrm>
        </p:spPr>
        <p:txBody>
          <a:bodyPr/>
          <a:lstStyle/>
          <a:p>
            <a:pPr eaLnBrk="1" hangingPunct="1"/>
            <a:r>
              <a:rPr lang="en-US" altLang="en-US" dirty="0"/>
              <a:t>Block-Diagram</a:t>
            </a:r>
            <a:endParaRPr lang="en-US" altLang="en-US" sz="40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22F5FF-7E51-6219-CED7-B1833E7F2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8135" y="1734765"/>
            <a:ext cx="5575284" cy="420616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71F0C2-162B-3915-DA18-C1E6A398C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25" y="1617713"/>
            <a:ext cx="4675695" cy="467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8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63" y="309756"/>
            <a:ext cx="10058400" cy="798513"/>
          </a:xfrm>
        </p:spPr>
        <p:txBody>
          <a:bodyPr/>
          <a:lstStyle/>
          <a:p>
            <a:pPr eaLnBrk="1" hangingPunct="1"/>
            <a:r>
              <a:rPr lang="en-US" altLang="en-US" dirty="0"/>
              <a:t>Expected</a:t>
            </a:r>
            <a:r>
              <a:rPr lang="en-US" altLang="en-US" sz="4000" dirty="0"/>
              <a:t> </a:t>
            </a:r>
            <a:r>
              <a:rPr lang="en-US" altLang="en-US" dirty="0"/>
              <a:t>Result</a:t>
            </a:r>
            <a:endParaRPr lang="en-US" altLang="en-US" sz="40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96963" y="1560200"/>
            <a:ext cx="10058400" cy="479398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This system is designed to enhance public safety by automatically detecting incidents of harassment or molestation and quickly notifying authorities.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capturing real-time evidence, such as videos and photos, and sending them to the nearest police station, it enables faster law enforcement responses, potentially preventing harm and ensuring offenders are apprehended.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presence of such a system serves as a powerful deterrent, reducing crime rates by discouraging unlawful behaviour.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 also provides law enforcement with reliable, time-stamped evidence to aid investigations and support legal action. Advanced machine learning algorithms ensure the system accurately identifies genuine distress signals, minimizing false alarms.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Its adaptable and scalable design makes it suitable for various environments, including public spaces, workplaces, schools, and other vulnerable areas.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This project empowers communities by creating a sense of security, especially for vulnerable groups, while showcasing how Al-integrated CCTV systems can transform traditional surveillance into a proactive solution.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46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B404-55D9-F02A-022C-1412C36C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3" y="332055"/>
            <a:ext cx="10058400" cy="800220"/>
          </a:xfrm>
        </p:spPr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83138-2810-319D-9B13-CB4B6651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03FA-5A0D-B351-47BA-8AECC9CD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97361-E8D4-8928-50E9-2B79C003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9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056FB1C-A232-DFF7-E2B0-D0BD14BC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" y="3732098"/>
            <a:ext cx="1150359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C888695-51DA-07D0-E5C8-920D04857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192" y="1612899"/>
            <a:ext cx="9892171" cy="2949674"/>
          </a:xfrm>
        </p:spPr>
        <p:txBody>
          <a:bodyPr/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 and Smart City Surveillance: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Deploying this AI-driven system 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public spaces like parks, streets, railway stations, and malls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detect distress situations in real time.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enhances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city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with existing CCTV networks, reducing crime, and improving emergency response times.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Women and Child Safety: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be installed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transport, workplaces, and residential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harassment, molestation, or assault.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intervention by law enforcement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helps prevent crimes against vulnerable individuals.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(Schools &amp; Universities):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in monitoring and preventing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bullying, violence, and harassment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school or university campuses.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security personnel, ensuring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 learning environment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 and staff.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97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A5DF-B300-7887-9DE3-0FF48D1C3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775" y="285146"/>
            <a:ext cx="10058400" cy="788772"/>
          </a:xfrm>
        </p:spPr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28A96-8DBE-A209-E5FC-16C240CC6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2" y="1499778"/>
            <a:ext cx="10217213" cy="4533900"/>
          </a:xfrm>
        </p:spPr>
        <p:txBody>
          <a:bodyPr/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Mental Health Facilities: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Detects distress sounds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in emergency rooms, psychiatric wards, or elderly care facilities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who may need urgent medical assistance.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Assists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professionals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identifying patients experiencing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pain, panic, or life-threatening conditions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Security and Workplace Safety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security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domestic violence, break-ins, or emergencies.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workplaces, it helps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threats, workplace violence, or harassment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a safer environment for employees.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2372-632E-6229-25E9-3BB87724F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77E03-0DEA-A9FC-33BB-340CA1001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AC65A-7275-75DE-45B0-9446427B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6341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384306"/>
            <a:ext cx="10058400" cy="7985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Conclusion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11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16025" y="1496662"/>
            <a:ext cx="10169673" cy="408400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of Anti-Molestation Situation Using Voice and Machine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demonstrated how AI can be leveraged to enhance public safety. By combining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audio processing, and video surveillance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was able to detect distress sounds in real-time and provide immediate alerts to authorities.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model efficiently identified distress signals such as screams, while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seamless CCTV camera integration for capturing video evidence.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facilitated real-time notifications, ensuring a swift response,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structured data storage for effective tracking and analysis of incidents.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not only highlights technical expertise in AI and system integration but also underscores the real-world impact of such solutions in emergency response systems. By automating distress detection and reducing response times, the system offers a proactive approach to improving security and preventing crimes.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enhancements, such as integrating multilingual audio recognition, improving model accuracy, and expanding deployment across different environments, can further strengthen its effectiveness. With continued innovation and real-world implementation, this solution has the potential to make public spaces significantly safer.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59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384306"/>
            <a:ext cx="10058400" cy="7985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References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411B63-8AE1-5A73-987B-68F0CBA2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Arunadevi S. Khaple, Aadarsh Chandanvandan, Aditi Jadhav, Akshada Jadhav, &amp; Mohit Kasar. (2023). Online Child Predator Detection Using ML. International Journal of Scientific Research in Science and Technology, 446–451.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https://doi.org/10.32628/IJSRST52310396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Borj, P. R., Raja, K., &amp; Bours, P. (2023). Online grooming detection: A comprehensive survey of child exploitation in chat logs. Knowledge-Based Systems, 259, 110039-.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https://doi.org/10.1016/j.knosys.2022.110039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Cardei, C., &amp; Rebedea, T. (2017). Detecting sexual predators in chats using behavioral features and imbalanced learning. Natural Language Engineering, 23(4), 589–616.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https://doi.org/10.1017/S1351324916000395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Dorasamy, M., Kaliannan, M., Jambulingam, M., Ramadhan, I., &amp; Sivaji, A. (2021). Parents’ Awareness on Online Predators: Cyber Grooming Deterrence. Qualitative Report, 26(11), 3683–3723.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https://doi.org/10.46743/2160-3715/2021.4914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70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1C7A-4C37-F945-67F0-D3780FD4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776" y="478957"/>
            <a:ext cx="10058400" cy="751065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89A09-3CF1-7649-FC5A-7D839A96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689F5-A0AE-A89B-6064-26635658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07CD-6F90-1571-D508-EE40E8F1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13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20A94A-0AC2-9F65-0C9D-08E297D38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4337" y="1383910"/>
            <a:ext cx="9584078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OpenCV Documentation –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https://docs.opencv.org/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Covers computer vision techniques useful for integrating CCTV footage processing in real-time security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Librosa: Python Library for Audio and Music Analysis –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https://librosa.org/doc/main/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Provides details on extracting and analyzing audio features for distress sound  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PyTorch Official Documentation –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https://pytorch.org/docs/stable/index.html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deep learning model implementation for sound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CSAM is CSAM. National Center for Missing &amp; Exploited Children. (2024,     March).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https://www.missingkids.org/blog/2024/generative-ai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csam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-is-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csam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32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>
          <a:xfrm>
            <a:off x="1096963" y="6459538"/>
            <a:ext cx="247332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27-05-2025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95763" y="649287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/>
              <a:t>SJC Institute of Technology, Chickballapur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93304" y="2730674"/>
            <a:ext cx="55740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spc="50" dirty="0">
                <a:ln w="11430"/>
                <a:solidFill>
                  <a:schemeClr val="accent1"/>
                </a:solidFill>
                <a:latin typeface="Jokerman" panose="04090605060D06020702" pitchFamily="82" charset="0"/>
              </a:rPr>
              <a:t>Thank You</a:t>
            </a:r>
            <a:endParaRPr lang="en-US" sz="4400" b="1" dirty="0">
              <a:latin typeface="Jokerman" panose="04090605060D0602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0577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24869</TotalTime>
  <Words>1899</Words>
  <Application>Microsoft Office PowerPoint</Application>
  <PresentationFormat>Widescreen</PresentationFormat>
  <Paragraphs>143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Calibri Light</vt:lpstr>
      <vt:lpstr>Jokerman</vt:lpstr>
      <vt:lpstr>Lato</vt:lpstr>
      <vt:lpstr>Raleway</vt:lpstr>
      <vt:lpstr>Raleway SemiBold</vt:lpstr>
      <vt:lpstr>Times New Roman</vt:lpstr>
      <vt:lpstr>Wingdings</vt:lpstr>
      <vt:lpstr>Retrospect</vt:lpstr>
      <vt:lpstr>1_Retrospect</vt:lpstr>
      <vt:lpstr>Office Theme</vt:lpstr>
      <vt:lpstr>PowerPoint Presentation</vt:lpstr>
      <vt:lpstr>1. Abstract 2. Problem Statement 3. Objective 4. Literature Review 5. Methodology 6. Block Diagram 7. Expected Result 8. Applications 9. Reference </vt:lpstr>
      <vt:lpstr>Abstract</vt:lpstr>
      <vt:lpstr>Problem-Statement</vt:lpstr>
      <vt:lpstr>Objectives</vt:lpstr>
      <vt:lpstr>Literature Survey</vt:lpstr>
      <vt:lpstr>Methodology</vt:lpstr>
      <vt:lpstr>Block-Diagram</vt:lpstr>
      <vt:lpstr>Expected Result</vt:lpstr>
      <vt:lpstr>Applications</vt:lpstr>
      <vt:lpstr>Applications</vt:lpstr>
      <vt:lpstr>Conclusion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optimization by  compiler phase ordering  and  tuning communication  on multi-core clusters</dc:title>
  <dc:creator>Admin</dc:creator>
  <cp:lastModifiedBy>musharaf baig</cp:lastModifiedBy>
  <cp:revision>1184</cp:revision>
  <cp:lastPrinted>2016-01-11T04:38:16Z</cp:lastPrinted>
  <dcterms:created xsi:type="dcterms:W3CDTF">2015-02-12T20:05:37Z</dcterms:created>
  <dcterms:modified xsi:type="dcterms:W3CDTF">2025-05-26T16:15:31Z</dcterms:modified>
</cp:coreProperties>
</file>